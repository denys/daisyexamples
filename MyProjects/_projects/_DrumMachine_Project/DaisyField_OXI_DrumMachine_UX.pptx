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38912"/>
            <a:ext cx="1737360" cy="34747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3891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 FIELD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438912"/>
            <a:ext cx="1554480" cy="347472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438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 ONE MK1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438912"/>
            <a:ext cx="1371600" cy="347472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4389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SYNTHEX Project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987552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Optimal Drum Machine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UX / UI Design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— Daisy Field as sound &amp; performance surface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One MK1 as sequencing brain · complete 3-layer control map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98080" y="2606040"/>
            <a:ext cx="1417320" cy="96012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624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507224" y="2606040"/>
            <a:ext cx="1417320" cy="96012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0" y="2624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7516368" y="2606040"/>
            <a:ext cx="1417320" cy="96012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6243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24+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132320" y="2560320"/>
            <a:ext cx="1645920" cy="68580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0" y="2560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132320" y="32461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controls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0" y="3611880"/>
            <a:ext cx="1645920" cy="68580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611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3×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132320" y="42976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layers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DaisySP  ·  libDaisy  ·  MIDI Clock Sync  ·  3-State LED Encoding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SECTIONS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73152" cy="17373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0241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93192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UX Concepts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machine design pillars, control paradigm taxonomy, immediacy principles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914400"/>
            <a:ext cx="73152" cy="173736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65192" y="10241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65192" y="16276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One as Sequencing Brain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5192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offloading, freed Daisy Field resources, MIDI clock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7889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788920"/>
            <a:ext cx="73152" cy="173736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28986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93192" y="3502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 Field Implementation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" y="3886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LED encoding, control layers, OLED architecture, firmware patterns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7889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88920"/>
            <a:ext cx="73152" cy="1737360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289864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965192" y="35021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Map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3886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parameter table, information density analysis, design rationale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1E1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UX Concepts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Drum Machines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separates immediate, performable hardware from menu-buried disappointments — the design principles every drum machine UI is evaluated against.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5 PILLARS OF DRUM MACHINE UX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19456" y="91440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456" y="914400"/>
            <a:ext cx="1664208" cy="50292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96926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19456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IMMEDIACY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0896" y="1874520"/>
            <a:ext cx="1481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Zero-menu access to the most-used parameters. Volume, pitch, decay reachable in one gesture without mode changes. Cognitive latency from intention to action must be negligible.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56816" y="91440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914400"/>
            <a:ext cx="1664208" cy="50292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29968" y="96926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56816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STATE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48256" y="1874520"/>
            <a:ext cx="1481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active state visible at a glance. Step-on LEDs, mute state, playback position, clock phase — all encoded in hardware. No screen navigation to read machine state.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94176" y="91440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94176" y="914400"/>
            <a:ext cx="1664208" cy="50292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96926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94176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LAYER ECONOMY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85616" y="1874520"/>
            <a:ext cx="1481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functions via hold/shift, not nested menus. Each additional layer doubles parameter space at zero hardware cost. Maximum 2 layers before muscle-memory breaks down.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31536" y="91440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31536" y="914400"/>
            <a:ext cx="1664208" cy="502920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96926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31536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 LOCK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22976" y="1874520"/>
            <a:ext cx="1481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Play/stop/record reachable without mode changes. BPM, pattern advance, fill always available during performance. No state machine dead-ends that require stopping to navigate.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68896" y="914400"/>
            <a:ext cx="1664208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914400"/>
            <a:ext cx="1664208" cy="502920"/>
          </a:xfrm>
          <a:prstGeom prst="rect">
            <a:avLst/>
          </a:prstGeom>
          <a:solidFill>
            <a:srgbClr val="F59B00"/>
          </a:solidFill>
          <a:ln w="12700">
            <a:solidFill>
              <a:srgbClr val="F59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969264"/>
            <a:ext cx="38404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68896" y="146304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FOCUS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0336" y="1874520"/>
            <a:ext cx="148132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control context at a time. Selecting a voice reassigns all knobs to that voice immediately. Eliminates confusion of shared encoders with unclear selection state.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PARADIGM TAXONOMY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paradigms — cognitive load &amp; performance profile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128016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" y="93268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Paradigm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08760" y="932688"/>
            <a:ext cx="137160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63624" y="93268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80360" y="932688"/>
            <a:ext cx="132588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35224" y="932688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Entry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932688"/>
            <a:ext cx="141732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932688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 Access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3560" y="932688"/>
            <a:ext cx="141732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78424" y="932688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Feedback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932688"/>
            <a:ext cx="1417320" cy="347472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95744" y="932688"/>
            <a:ext cx="1307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 Field fit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280160"/>
            <a:ext cx="1280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1280160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Step-button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508760" y="1280160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72768" y="1280160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Roland TR-8S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80360" y="1280160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1280160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16-step row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206240" y="128016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128016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Knob-per-voice column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23560" y="128016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87568" y="128016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LEDs always-on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40880" y="1280160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04888" y="1280160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paradigm mismatch: no step row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1938528"/>
            <a:ext cx="128016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" y="1938528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 / Groovebox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508760" y="1938528"/>
            <a:ext cx="137160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72768" y="1938528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Novation Circuit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880360" y="1938528"/>
            <a:ext cx="132588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44368" y="1938528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grid dual-use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206240" y="1938528"/>
            <a:ext cx="141732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70248" y="1938528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macro knobs + shift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623560" y="1938528"/>
            <a:ext cx="141732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1938528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pad color coding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40880" y="1938528"/>
            <a:ext cx="1417320" cy="658368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04888" y="1938528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— closest form factor match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28600" y="2596896"/>
            <a:ext cx="12801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" y="2596896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 matrix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508760" y="2596896"/>
            <a:ext cx="1371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2768" y="2596896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M:Samples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880360" y="2596896"/>
            <a:ext cx="1325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44368" y="2596896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key row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206240" y="2596896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70248" y="2596896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encoders + FUNC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23560" y="2596896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596896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+ trig LEDs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040880" y="2596896"/>
            <a:ext cx="14173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04888" y="2596896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OLED UX pattern useful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28600" y="3255264"/>
            <a:ext cx="1280160" cy="658368"/>
          </a:xfrm>
          <a:prstGeom prst="rect">
            <a:avLst/>
          </a:prstGeom>
          <a:solidFill>
            <a:srgbClr val="1E18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255264"/>
            <a:ext cx="54864" cy="6583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8328" y="3255264"/>
            <a:ext cx="11521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 (this design)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508760" y="3255264"/>
            <a:ext cx="1371600" cy="658368"/>
          </a:xfrm>
          <a:prstGeom prst="rect">
            <a:avLst/>
          </a:prstGeom>
          <a:solidFill>
            <a:srgbClr val="161C1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72768" y="3255264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Daisy + OXI One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80360" y="3255264"/>
            <a:ext cx="1325880" cy="658368"/>
          </a:xfrm>
          <a:prstGeom prst="rect">
            <a:avLst/>
          </a:prstGeom>
          <a:solidFill>
            <a:srgbClr val="161C1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4368" y="3255264"/>
            <a:ext cx="11978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Offloaded to OXI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206240" y="3255264"/>
            <a:ext cx="1417320" cy="658368"/>
          </a:xfrm>
          <a:prstGeom prst="rect">
            <a:avLst/>
          </a:prstGeom>
          <a:solidFill>
            <a:srgbClr val="161C1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70248" y="3255264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knobs × 3 layers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623560" y="3255264"/>
            <a:ext cx="1417320" cy="658368"/>
          </a:xfrm>
          <a:prstGeom prst="rect">
            <a:avLst/>
          </a:prstGeom>
          <a:solidFill>
            <a:srgbClr val="161C1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3255264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key LEDs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040880" y="3255264"/>
            <a:ext cx="1417320" cy="658368"/>
          </a:xfrm>
          <a:prstGeom prst="rect">
            <a:avLst/>
          </a:prstGeom>
          <a:solidFill>
            <a:srgbClr val="161C1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04888" y="3255264"/>
            <a:ext cx="1289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C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built for this target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D1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 One as the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Sequencing Brain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functions the OXI One absorbs — and precisely what that liberates on the Daisy Field control surface.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 ONE — FUNCTION OFFLOADING 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3977640" cy="36576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 ONE HANDLES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51960" cy="36576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91440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 FIELD — FREED FOR: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325880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35331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Sequencing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" y="15819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DRUM mode — 8 gate outs, 16 steps per track, pattern chain, per-step probability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892808"/>
            <a:ext cx="397764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892808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19202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" y="2148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/ Stop / Record, start/stop triggers, tap tempo encoder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459736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459736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2487168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 Management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" y="27157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projects × 16 patterns, arrangement/chain mode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026664"/>
            <a:ext cx="397764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026664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" y="3054096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Distribution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" y="32826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clock 24ppq → Daisy MIDI IN, sync pulse output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593592"/>
            <a:ext cx="3977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593592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362102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MIDI Note Triggers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9184" y="38496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per voice hit per step → Field receives for LED flash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4160520"/>
            <a:ext cx="397764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4160520"/>
            <a:ext cx="45720" cy="54864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" y="4187952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 / Gate Modulation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9184" y="441655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 lanes → OXI CV OUT → Daisy Field CV IN 1–4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325880"/>
            <a:ext cx="4251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1325880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132588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16 keys become performance + status display (no step entry role)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892808"/>
            <a:ext cx="425196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892808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89280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/ SW2 freed from transport → available for 2× layer expansion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459736"/>
            <a:ext cx="4251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2459736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4597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 = voice mute/solo/select with persistent 3-state LED encoding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3026664"/>
            <a:ext cx="425196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026664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64024" y="3026664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B = contextual: FX routing, pattern queue, step on/off editing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3593592"/>
            <a:ext cx="4251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3593592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59359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flash per Note On = real-time voice activity indicator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4160520"/>
            <a:ext cx="4251960" cy="548640"/>
          </a:xfrm>
          <a:prstGeom prst="rect">
            <a:avLst/>
          </a:prstGeom>
          <a:solidFill>
            <a:srgbClr val="F3F2EE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4160520"/>
            <a:ext cx="45720" cy="54864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64024" y="41605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 1–4 = modulation targets driven by OXI modulation lanes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0" y="-274320"/>
            <a:ext cx="4572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200A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 Field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UX architecture for the Daisy Field surface: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LED system · control layers · OLED strategy · MIDI clock integration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914400"/>
            <a:ext cx="2560320" cy="32004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 INVENTORY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2560320" cy="32004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088" y="12344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knobs K1–K8  +  9th hardware volume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2560320" cy="32004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57276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keys with LED (Row A + Row B)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309360" y="1911096"/>
            <a:ext cx="2560320" cy="32004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9110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switches SW1, SW2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249424"/>
            <a:ext cx="2560320" cy="32004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24942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128×64 OLED display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309360" y="2587752"/>
            <a:ext cx="2560320" cy="320040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2587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IN 1–4 · CV OUT 1–2 · Gate IN/OUT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2926080"/>
            <a:ext cx="2560320" cy="32004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926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IN / MIDI OUT (TRS 3.5mm)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3-STATE LED ENCODING SYSTEM  ·  128×64px OLED FIELD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Daisy Field Implementation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103120" cy="3794760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115568"/>
            <a:ext cx="548640" cy="548640"/>
          </a:xfrm>
          <a:prstGeom prst="ellipse">
            <a:avLst/>
          </a:prstGeom>
          <a:solidFill>
            <a:srgbClr val="2C3040"/>
          </a:solidFill>
          <a:ln w="12700">
            <a:solidFill>
              <a:srgbClr val="4A526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2157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empty / not in kit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1920240" cy="475488"/>
          </a:xfrm>
          <a:prstGeom prst="rect">
            <a:avLst/>
          </a:prstGeom>
          <a:solidFill>
            <a:srgbClr val="2C365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237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not assigned in current kit. Not sent by OXI in DRUM mode. No CPU overhead.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054096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305409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FX slot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3575304"/>
            <a:ext cx="1920240" cy="493776"/>
          </a:xfrm>
          <a:prstGeom prst="rect">
            <a:avLst/>
          </a:prstGeom>
          <a:solidFill>
            <a:srgbClr val="14192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35753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voice position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4096512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40965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slot void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23160" y="914400"/>
            <a:ext cx="2103120" cy="3794760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115568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81528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~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42316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14600" y="2157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but muted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14600" y="2496312"/>
            <a:ext cx="1920240" cy="475488"/>
          </a:xfrm>
          <a:prstGeom prst="rect">
            <a:avLst/>
          </a:prstGeom>
          <a:solidFill>
            <a:srgbClr val="2C365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25237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pattern running, voice silenced on Daisy. Blink phase toggles at 16th-note rate via MIDI clock 24ppq.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514600" y="3054096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05409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during performance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14600" y="3575304"/>
            <a:ext cx="1920240" cy="493776"/>
          </a:xfrm>
          <a:prstGeom prst="rect">
            <a:avLst/>
          </a:prstGeom>
          <a:solidFill>
            <a:srgbClr val="14192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87752" y="35753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pattern (next)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514600" y="4096512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87752" y="40965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bypass active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914400"/>
            <a:ext cx="2103120" cy="3794760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1115568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09160" y="2157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and playing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496312"/>
            <a:ext cx="1920240" cy="475488"/>
          </a:xfrm>
          <a:prstGeom prst="rect">
            <a:avLst/>
          </a:prstGeom>
          <a:solidFill>
            <a:srgbClr val="2C365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25237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unmuted, playing steps. Solid-on between trigger flashes. Selected track in Row A.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09160" y="3054096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05409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voice playing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3575304"/>
            <a:ext cx="1920240" cy="493776"/>
          </a:xfrm>
          <a:prstGeom prst="rect">
            <a:avLst/>
          </a:prstGeom>
          <a:solidFill>
            <a:srgbClr val="14192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82312" y="35753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track (Row A)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4096512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82312" y="40965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active pattern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12280" y="914400"/>
            <a:ext cx="2103120" cy="3794760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9520" y="111556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70648" y="118872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80ms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12280" y="17556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FLASH *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903720" y="21579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hit — 80ms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03720" y="2496312"/>
            <a:ext cx="1920240" cy="475488"/>
          </a:xfrm>
          <a:prstGeom prst="rect">
            <a:avLst/>
          </a:prstGeom>
          <a:solidFill>
            <a:srgbClr val="2C365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49440" y="2523744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Momentary override on Note On from OXI. Brightens to full for 80ms, returns to persistent LED state.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903720" y="3054096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305409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accent indicator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3575304"/>
            <a:ext cx="1920240" cy="493776"/>
          </a:xfrm>
          <a:prstGeom prst="rect">
            <a:avLst/>
          </a:prstGeom>
          <a:solidFill>
            <a:srgbClr val="14192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76872" y="357530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hit confirm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03720" y="4096512"/>
            <a:ext cx="1920240" cy="493776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76872" y="40965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step trigger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FLASH is software-generated: duration distinguishes it from sustained ON. Driven exclusively by OXI MIDI Note On messages. No additional GPIO required.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MAPPING — NORMAL PLAY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 released · SW2 released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3886200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K1–K8  ·  VOICE PARAMETERS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1225296"/>
            <a:ext cx="3886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25296"/>
            <a:ext cx="45720" cy="4297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25296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122529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01952" y="122529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amplitude 0–100%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1673352"/>
            <a:ext cx="3886200" cy="429768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1673352"/>
            <a:ext cx="45720" cy="4297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673352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" y="167335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PITCH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01952" y="167335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/ fundamental frequency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121408"/>
            <a:ext cx="3886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121408"/>
            <a:ext cx="45720" cy="4297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121408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68096" y="212140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01952" y="212140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decay 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569464"/>
            <a:ext cx="3886200" cy="429768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2569464"/>
            <a:ext cx="45720" cy="4297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569464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" y="2569464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01952" y="2569464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position L–R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3017520"/>
            <a:ext cx="3886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017520"/>
            <a:ext cx="45720" cy="429768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017520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K5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8096" y="3017520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01952" y="301752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Low-pass filter cutoff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3465576"/>
            <a:ext cx="3886200" cy="429768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" y="3465576"/>
            <a:ext cx="45720" cy="429768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3465576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K6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68096" y="3465576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REVERB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901952" y="3465576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 send level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913632"/>
            <a:ext cx="388620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8600" y="3913632"/>
            <a:ext cx="45720" cy="429768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913632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K7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8096" y="3913632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01952" y="3913632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send level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4361688"/>
            <a:ext cx="3886200" cy="429768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361688"/>
            <a:ext cx="45720" cy="42976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361688"/>
            <a:ext cx="411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68096" y="4361688"/>
            <a:ext cx="1097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901952" y="4361688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probability 0–100%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0" y="868680"/>
            <a:ext cx="4343400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8686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ROWS  ·  TRACK + STEP CONTROL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0" y="126187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 — VOICE SELECT  (tap to select, knobs follow)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0" y="1572768"/>
            <a:ext cx="493776" cy="49377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09778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9778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62356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62356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4934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4934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67512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7512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20090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0090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72668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8252460" y="1572768"/>
            <a:ext cx="493776" cy="493776"/>
          </a:xfrm>
          <a:prstGeom prst="rect">
            <a:avLst/>
          </a:prstGeom>
          <a:solidFill>
            <a:srgbClr val="D0D4D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52460" y="15727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52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72000" y="2103120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LED: ON = active/unmuted · BLINK = muted · OFF = empty · Bright-yellow = selected track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572000" y="251460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B — STEP ON/OFF  (steps 1–8 · SW2 tap = page 2 → steps 9–16)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572000" y="2834640"/>
            <a:ext cx="493776" cy="49377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097780" y="2834640"/>
            <a:ext cx="493776" cy="493776"/>
          </a:xfrm>
          <a:prstGeom prst="rect">
            <a:avLst/>
          </a:prstGeom>
          <a:solidFill>
            <a:srgbClr val="B0B8C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09778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23560" y="2834640"/>
            <a:ext cx="493776" cy="493776"/>
          </a:xfrm>
          <a:prstGeom prst="rect">
            <a:avLst/>
          </a:prstGeom>
          <a:solidFill>
            <a:srgbClr val="B0B8C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2356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49340" y="2834640"/>
            <a:ext cx="493776" cy="493776"/>
          </a:xfrm>
          <a:prstGeom prst="rect">
            <a:avLst/>
          </a:prstGeom>
          <a:solidFill>
            <a:srgbClr val="B0B8C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4934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675120" y="2834640"/>
            <a:ext cx="493776" cy="49377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7512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200900" y="2834640"/>
            <a:ext cx="493776" cy="493776"/>
          </a:xfrm>
          <a:prstGeom prst="rect">
            <a:avLst/>
          </a:prstGeom>
          <a:solidFill>
            <a:srgbClr val="B0B8C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0090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726680" y="2834640"/>
            <a:ext cx="493776" cy="49377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2668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252460" y="2834640"/>
            <a:ext cx="493776" cy="493776"/>
          </a:xfrm>
          <a:prstGeom prst="rect">
            <a:avLst/>
          </a:prstGeom>
          <a:solidFill>
            <a:srgbClr val="B0B8C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52460" y="28346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0" y="3364992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step = yellow · Inactive step = grey · Tap to toggle. OXI reads the resulting pattern via Gate OUT.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0" y="3794760"/>
            <a:ext cx="4343400" cy="978408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72000" y="3794760"/>
            <a:ext cx="54864" cy="97840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681728" y="382219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</a:t>
            </a:r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 → shift layer (knobs + Row A reassign) · </a:t>
            </a:r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tap → page flip 1–8 ↔ 9–16  ·  </a:t>
            </a:r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SW2</a:t>
            </a:r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 → pattern select
</a:t>
            </a:r>
            <a:pPr indent="0" marL="0">
              <a:buNone/>
            </a:pPr>
            <a:r>
              <a:rPr lang="en-US" sz="1000" b="1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SW1 + SW2</a:t>
            </a:r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simultaneously → save current pattern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MAPPING — SW1 SHIFT LAYER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Hold SW1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8600" y="850392"/>
            <a:ext cx="8686800" cy="36576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SW1 instantly reassigns K1–K8 and Row A from voice-centric to global/transport. Row B retains step 9–16 page role.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280160"/>
            <a:ext cx="4251960" cy="310896"/>
          </a:xfrm>
          <a:prstGeom prst="rect">
            <a:avLst/>
          </a:prstGeom>
          <a:solidFill>
            <a:srgbClr val="220A14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8016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K1–K8  ·  GLOBAL / TRANSPORT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618488"/>
            <a:ext cx="4251960" cy="38404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618488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61848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8528" y="16184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tempo — live override of OXI clock master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28600" y="2020824"/>
            <a:ext cx="4251960" cy="384048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2020824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202082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38528" y="202082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shuffle amount 0–100%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423160"/>
            <a:ext cx="4251960" cy="38404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423160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24231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VOL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938528" y="24231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output gain pre-DAC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2825496"/>
            <a:ext cx="4251960" cy="384048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825496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825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282549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 LEN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38528" y="28254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pattern step length 1–16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" y="3227832"/>
            <a:ext cx="4251960" cy="38404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" y="3227832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" y="3227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 PROB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38528" y="322783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 trigger probability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28600" y="3630168"/>
            <a:ext cx="4251960" cy="384048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3630168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36301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 DIV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38528" y="36301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clock divider for slow voices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4032504"/>
            <a:ext cx="4251960" cy="38404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4032504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032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K7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40325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 LEN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38528" y="403250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gate length override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434840"/>
            <a:ext cx="4251960" cy="384048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28600" y="4434840"/>
            <a:ext cx="45720" cy="384048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9808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938528" y="4434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accent level for accented steps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54880" y="1280160"/>
            <a:ext cx="4160520" cy="310896"/>
          </a:xfrm>
          <a:prstGeom prst="rect">
            <a:avLst/>
          </a:prstGeom>
          <a:solidFill>
            <a:srgbClr val="220A14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12801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  ·  MUTE / UNMUTE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73168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271516" y="1664208"/>
            <a:ext cx="475488" cy="475488"/>
          </a:xfrm>
          <a:prstGeom prst="rect">
            <a:avLst/>
          </a:prstGeom>
          <a:solidFill>
            <a:srgbClr val="220A14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71516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769864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69864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268212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68212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OH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766560" y="1664208"/>
            <a:ext cx="475488" cy="475488"/>
          </a:xfrm>
          <a:prstGeom prst="rect">
            <a:avLst/>
          </a:prstGeom>
          <a:solidFill>
            <a:srgbClr val="220A14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6656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264908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490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763256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63256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8261604" y="1664208"/>
            <a:ext cx="475488" cy="475488"/>
          </a:xfrm>
          <a:prstGeom prst="rect">
            <a:avLst/>
          </a:prstGeom>
          <a:solidFill>
            <a:srgbClr val="2A304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61604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FX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75488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while holding SW1 → toggle mute.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= muted (OXI running, Daisy silenced).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= active and passing audio.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754880" y="2834640"/>
            <a:ext cx="4160520" cy="310896"/>
          </a:xfrm>
          <a:prstGeom prst="rect">
            <a:avLst/>
          </a:prstGeom>
          <a:solidFill>
            <a:srgbClr val="220A14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283464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B  ·  STEPS 9–16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773168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73168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271516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7151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9864" y="3200400"/>
            <a:ext cx="475488" cy="475488"/>
          </a:xfrm>
          <a:prstGeom prst="rect">
            <a:avLst/>
          </a:prstGeom>
          <a:solidFill>
            <a:srgbClr val="2A2208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69864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268212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68212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66560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64908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264908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7763256" y="3200400"/>
            <a:ext cx="475488" cy="475488"/>
          </a:xfrm>
          <a:prstGeom prst="rect">
            <a:avLst/>
          </a:prstGeom>
          <a:solidFill>
            <a:srgbClr val="1C21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76325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8261604" y="3200400"/>
            <a:ext cx="475488" cy="475488"/>
          </a:xfrm>
          <a:prstGeom prst="rect">
            <a:avLst/>
          </a:prstGeom>
          <a:solidFill>
            <a:srgbClr val="2A2208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61604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4754880" y="3730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row shifts to 9–16 context.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 same mechanics as normal layer.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28600" y="4553712"/>
            <a:ext cx="8686800" cy="411480"/>
          </a:xfrm>
          <a:prstGeom prst="rect">
            <a:avLst/>
          </a:prstGeom>
          <a:solidFill>
            <a:srgbClr val="1A2030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28600" y="4553712"/>
            <a:ext cx="54864" cy="41148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5760" y="455371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shift accessed by physical hold, not mode toggle — eliminates mode-lock. Release SW1 = instant return. OLED lines 3–4 update in real time to show shift parameter names.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— STEP PAGE TOGGLE &amp; PATTERN SELECT MODE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 · Hold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TAP  ·  STEP PAGE FLIP  (1–8  ↔  9–16)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3075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voice holds 16 steps. Row B (8 keys) displays one page of 8. SW2 tap flips pages. OLED Line 2 shows active page indicator.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856232"/>
            <a:ext cx="4114800" cy="292608"/>
          </a:xfrm>
          <a:prstGeom prst="rect">
            <a:avLst/>
          </a:prstGeom>
          <a:solidFill>
            <a:srgbClr val="E5E4E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562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1 (steps 1–8)   →  SW2 tap  →   PAGE 2 (steps 9–16)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" y="2194560"/>
            <a:ext cx="448056" cy="44805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31520" y="219456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207008" y="219456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82496" y="219456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82496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157984" y="2194560"/>
            <a:ext cx="448056" cy="44805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57984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33472" y="219456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33472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08960" y="2194560"/>
            <a:ext cx="448056" cy="44805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584448" y="219456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19456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8600" y="2679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6032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6032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31520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207008" y="2926080"/>
            <a:ext cx="448056" cy="44805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07008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682496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82496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157984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57984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33472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33472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08960" y="2926080"/>
            <a:ext cx="448056" cy="448056"/>
          </a:xfrm>
          <a:prstGeom prst="rect">
            <a:avLst/>
          </a:prstGeom>
          <a:solidFill>
            <a:srgbClr val="C8CDD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08960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584448" y="2926080"/>
            <a:ext cx="448056" cy="448056"/>
          </a:xfrm>
          <a:prstGeom prst="rect">
            <a:avLst/>
          </a:prstGeom>
          <a:solidFill>
            <a:srgbClr val="F5C400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84448" y="2926080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28600" y="3410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SW2 tap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28600" y="3657600"/>
            <a:ext cx="4114800" cy="868680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3657600"/>
            <a:ext cx="54864" cy="86868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368503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One sequences both pages independently. Daisy displays only the page being edited. The OXI step cursor position is shown on OLED Line 2 — freeing Row B purely for toggling, not for displaying playback position.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663440" y="914400"/>
            <a:ext cx="4251960" cy="347472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HOLD  ·  PATTERN SELECT MODE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54880" y="130759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 + Row B become 16-slot pattern selector.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states encode pattern status across all 16 slots.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178308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 — patterns 1–8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81728" y="2066544"/>
            <a:ext cx="493776" cy="493776"/>
          </a:xfrm>
          <a:prstGeom prst="rect">
            <a:avLst/>
          </a:prstGeom>
          <a:solidFill>
            <a:srgbClr val="1E18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98364" y="2066544"/>
            <a:ext cx="493776" cy="493776"/>
          </a:xfrm>
          <a:prstGeom prst="rect">
            <a:avLst/>
          </a:prstGeom>
          <a:solidFill>
            <a:srgbClr val="0D1825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98364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715000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1500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231636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31636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748272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48272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7264908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64908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7781544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81544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8298180" y="2066544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9818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663440" y="2633472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B — patterns 9–16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681728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81728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198364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98364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715000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231636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31636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748272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748272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264908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264908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781544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781544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8298180" y="2916936"/>
            <a:ext cx="493776" cy="493776"/>
          </a:xfrm>
          <a:prstGeom prst="rect">
            <a:avLst/>
          </a:prstGeom>
          <a:solidFill>
            <a:srgbClr val="2C304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98180" y="2916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4681728" y="3493008"/>
            <a:ext cx="201168" cy="201168"/>
          </a:xfrm>
          <a:prstGeom prst="rect">
            <a:avLst/>
          </a:prstGeom>
          <a:solidFill>
            <a:srgbClr val="3A4060"/>
          </a:solidFill>
          <a:ln w="12700">
            <a:solidFill>
              <a:srgbClr val="3A406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19472" y="3465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slot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053328" y="3493008"/>
            <a:ext cx="201168" cy="201168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291072" y="3465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(ON)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424928" y="3493008"/>
            <a:ext cx="201168" cy="201168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62672" y="3465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(BLINK)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663440" y="3822192"/>
            <a:ext cx="4251960" cy="704088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63440" y="3822192"/>
            <a:ext cx="54864" cy="704088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73168" y="3849624"/>
            <a:ext cx="4069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SW2 to load queued pattern on next bar boundary — seamless live switch aligned to OXI transport. Pattern LEDs provide persistent status: no screen interaction needed during performance.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OLED 4-LINE DISPLAY ARCHITECTURE  ·  128×64px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Daisy Field Implementation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3383280" cy="3794760"/>
          </a:xfrm>
          <a:prstGeom prst="rect">
            <a:avLst/>
          </a:prstGeom>
          <a:solidFill>
            <a:srgbClr val="060F0A"/>
          </a:solidFill>
          <a:ln w="12700">
            <a:solidFill>
              <a:srgbClr val="1A3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078992"/>
            <a:ext cx="3054096" cy="3465576"/>
          </a:xfrm>
          <a:prstGeom prst="rect">
            <a:avLst/>
          </a:prstGeom>
          <a:solidFill>
            <a:srgbClr val="070C09"/>
          </a:solidFill>
          <a:ln w="12700">
            <a:solidFill>
              <a:srgbClr val="0E20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7043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E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BPM:128.0  SW:18%  [PLAY]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1719072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E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TRK:BD  PG:1/2  PROB:75%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232257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E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LVL  PIT  DEC  PAN  FIL  REV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871216"/>
            <a:ext cx="28712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E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DLY  PRB  ·  [SHIFT: OFF]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13232" y="3410712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0A8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▌▌▌▌▌  ▌▌▌▌▌▌▌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3232" y="374904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A6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8-voice level meters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1005840"/>
            <a:ext cx="4709160" cy="74980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0520" y="1005840"/>
            <a:ext cx="54864" cy="749808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9392" y="104241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 — GLOBAL TRANSPORT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79392" y="1335024"/>
            <a:ext cx="4517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BPM, swing %, playback state. Always visible regardless of mode. Updated every MIDI clock tick.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0520" y="1828800"/>
            <a:ext cx="4709160" cy="74980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60520" y="1828800"/>
            <a:ext cx="54864" cy="749808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9392" y="186537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2 — ACTIVE VOICE + PAGE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79392" y="2157984"/>
            <a:ext cx="4517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voice name, step page (1/2), probability value. Updates on voice select or SW2 tap.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60520" y="2697480"/>
            <a:ext cx="4709160" cy="74980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60520" y="2697480"/>
            <a:ext cx="54864" cy="749808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2734056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3 — K1–K6 ASSIGNMENT REMINDER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79392" y="3026664"/>
            <a:ext cx="4517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Abbreviated param names for K1–K6. Switches to shift-mode names on SW1 hold.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3547872"/>
            <a:ext cx="4709160" cy="749808"/>
          </a:xfrm>
          <a:prstGeom prst="rect">
            <a:avLst/>
          </a:prstGeom>
          <a:solidFill>
            <a:srgbClr val="161B26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60520" y="3547872"/>
            <a:ext cx="54864" cy="749808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9392" y="3584448"/>
            <a:ext cx="4517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B8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4 — K7–K8 + MODE STATE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79392" y="3877056"/>
            <a:ext cx="4517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K7–K8 labels + current shift state indicator. Eliminates need to memorize shift layer.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MIDI CLOCK INTEGRATION — TEMPO-LOCKED LED FEEDBACK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1828800" cy="685800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881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OXI ONE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39903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clock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24ppq MIDI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383280" y="1051560"/>
            <a:ext cx="2057400" cy="6858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088136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DAISY FIELD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MIDI 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399032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clock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Note 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0" y="1051560"/>
            <a:ext cx="2286000" cy="685800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8813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 HANDLER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(firmware)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75120" y="139903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blink_phase[]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flash_timer[]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21408" y="1389888"/>
            <a:ext cx="1261872" cy="0"/>
          </a:xfrm>
          <a:prstGeom prst="line">
            <a:avLst/>
          </a:prstGeom>
          <a:noFill/>
          <a:ln w="12700">
            <a:solidFill>
              <a:srgbClr val="3D9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58968" y="1389888"/>
            <a:ext cx="1124712" cy="0"/>
          </a:xfrm>
          <a:prstGeom prst="line">
            <a:avLst/>
          </a:prstGeom>
          <a:noFill/>
          <a:ln w="12700">
            <a:solidFill>
              <a:srgbClr val="F5C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1143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TRS MIDI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11430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24ppq + NoteOn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583680" y="1920240"/>
            <a:ext cx="2286000" cy="685800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920240"/>
            <a:ext cx="54864" cy="6858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93408" y="19476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BLINK SYNC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93408" y="2194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% 6 == 0 → toggle blink_phase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16th-note tempo-locked blink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2743200"/>
            <a:ext cx="2286000" cy="685800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2743200"/>
            <a:ext cx="54864" cy="685800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93408" y="27706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 FLASH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693408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NoteOn → flash_timer[v] = 80ms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 persistent state after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1810512"/>
            <a:ext cx="6080760" cy="2907792"/>
          </a:xfrm>
          <a:prstGeom prst="rect">
            <a:avLst/>
          </a:prstGeom>
          <a:solidFill>
            <a:srgbClr val="0F1219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1892808"/>
            <a:ext cx="5806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7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Called in MidiHandler — runs at interrupt priority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1480" y="219456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OnMidiMessage(MidiEvent msg) {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2414016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(msg.type == TimingClock) {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11480" y="2633472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(++midi_tick % 6 == 0)      // 16th note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2852928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blink_phase = !blink_phase;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3072384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11480" y="329184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(msg.type == NoteOn) {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3511296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v = NoteToVoice(msg.data[0]);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3730752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 &gt;= 0)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1480" y="3950208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flash_timer[v] = 80;         // 80ms flash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11480" y="4169664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AA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38912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4320" y="4736592"/>
            <a:ext cx="6080760" cy="274320"/>
          </a:xfrm>
          <a:prstGeom prst="rect">
            <a:avLst/>
          </a:prstGeom>
          <a:solidFill>
            <a:srgbClr val="1A1E2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75488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main loop: key_state[v] = flash_timer[v]&gt;0 ? LED_ON : (muted[v] ? LED_BLINK : LED_ON)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CONTROL MAP — INFORMATION DENSITY SUMMARY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850392"/>
            <a:ext cx="1261872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3464" y="850392"/>
            <a:ext cx="1152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90472" y="850392"/>
            <a:ext cx="2340864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45336" y="85039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 layer (SW1 off)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31336" y="850392"/>
            <a:ext cx="2340864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85039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C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SW1-shift layer (hold)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72200" y="850392"/>
            <a:ext cx="2340864" cy="32004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850392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D9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 held (pattern)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170432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170432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490472" y="1170432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117043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— voice amplitude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31336" y="1170432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17043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 — master tempo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72200" y="1170432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17043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1412748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412748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K2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90472" y="1412748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45336" y="141274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/ tune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31336" y="1412748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141274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amount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72200" y="1412748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27064" y="141274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1655064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1655064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490472" y="1655064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45336" y="165506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time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31336" y="1655064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86200" y="165506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volume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1655064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27064" y="165506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1897380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1897380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490472" y="1897380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45336" y="189738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L–R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31336" y="1897380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189738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length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172200" y="1897380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27064" y="189738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" y="2139696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2139696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490472" y="2139696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545336" y="213969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cutoff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831336" y="2139696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86200" y="213969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probability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2139696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27064" y="213969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2382012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2382012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K6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490472" y="2382012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336" y="238201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Reverb send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31336" y="2382012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86200" y="238201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divider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72200" y="2382012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27064" y="238201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" y="2624328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3464" y="2624328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K7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490472" y="2624328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45336" y="262432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send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831336" y="2624328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86200" y="262432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length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172200" y="2624328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27064" y="262432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" y="2866644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" y="2866644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490472" y="2866644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45336" y="286664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probability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831336" y="2866644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886200" y="286664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level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72200" y="2866644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27064" y="286664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" y="3108960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3108960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A (×8)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490472" y="3108960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45336" y="310896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select BD–FX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831336" y="3108960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886200" y="310896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 / unmute toggle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172200" y="3108960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27064" y="3108960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4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select 1–16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28600" y="3351276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3464" y="3351276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B (×8)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490472" y="3351276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545336" y="335127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1–8 on/off edit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831336" y="3351276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86200" y="335127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9–16 on/off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172200" y="3351276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27064" y="3351276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4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9–16 on/off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28600" y="3593592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83464" y="3593592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490472" y="3593592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45336" y="359359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= shift active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831336" y="3593592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886200" y="359359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172200" y="3593592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27064" y="3593592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228600" y="3835908"/>
            <a:ext cx="1261872" cy="242316"/>
          </a:xfrm>
          <a:prstGeom prst="rect">
            <a:avLst/>
          </a:prstGeom>
          <a:solidFill>
            <a:srgbClr val="F2F1ED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83464" y="3835908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SW2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1490472" y="3835908"/>
            <a:ext cx="2340864" cy="242316"/>
          </a:xfrm>
          <a:prstGeom prst="rect">
            <a:avLst/>
          </a:prstGeom>
          <a:solidFill>
            <a:srgbClr val="F7F6F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545336" y="383590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= page 1↔2 flip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3831336" y="3835908"/>
            <a:ext cx="2340864" cy="242316"/>
          </a:xfrm>
          <a:prstGeom prst="rect">
            <a:avLst/>
          </a:prstGeom>
          <a:solidFill>
            <a:srgbClr val="FCF0F4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3886200" y="383590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1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9–16 context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172200" y="3835908"/>
            <a:ext cx="2340864" cy="242316"/>
          </a:xfrm>
          <a:prstGeom prst="rect">
            <a:avLst/>
          </a:prstGeom>
          <a:solidFill>
            <a:srgbClr val="EBF2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227064" y="3835908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4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= pat. select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228600" y="4078224"/>
            <a:ext cx="1261872" cy="242316"/>
          </a:xfrm>
          <a:prstGeom prst="rect">
            <a:avLst/>
          </a:prstGeom>
          <a:solidFill>
            <a:srgbClr val="E8E7E2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83464" y="4078224"/>
            <a:ext cx="1152144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D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SW1 + SW2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490472" y="4078224"/>
            <a:ext cx="2340864" cy="242316"/>
          </a:xfrm>
          <a:prstGeom prst="rect">
            <a:avLst/>
          </a:prstGeom>
          <a:solidFill>
            <a:srgbClr val="FDFCF8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45336" y="407822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D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current pattern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3831336" y="4078224"/>
            <a:ext cx="2340864" cy="242316"/>
          </a:xfrm>
          <a:prstGeom prst="rect">
            <a:avLst/>
          </a:prstGeom>
          <a:solidFill>
            <a:srgbClr val="FFF3F7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886200" y="407822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6172200" y="4078224"/>
            <a:ext cx="2340864" cy="242316"/>
          </a:xfrm>
          <a:prstGeom prst="rect">
            <a:avLst/>
          </a:prstGeom>
          <a:solidFill>
            <a:srgbClr val="F0F5FF"/>
          </a:solidFill>
          <a:ln w="12700">
            <a:solidFill>
              <a:srgbClr val="D6D4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27064" y="4078224"/>
            <a:ext cx="2231136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228600" y="4375404"/>
            <a:ext cx="2011680" cy="50292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20040" y="43754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2200" dirty="0"/>
          </a:p>
        </p:txBody>
      </p:sp>
      <p:sp>
        <p:nvSpPr>
          <p:cNvPr id="118" name="Text 116"/>
          <p:cNvSpPr/>
          <p:nvPr/>
        </p:nvSpPr>
        <p:spPr>
          <a:xfrm>
            <a:off x="1005840" y="437540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controls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2400300" y="4375404"/>
            <a:ext cx="2011680" cy="50292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491740" y="43754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21" name="Text 119"/>
          <p:cNvSpPr/>
          <p:nvPr/>
        </p:nvSpPr>
        <p:spPr>
          <a:xfrm>
            <a:off x="3177540" y="437540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layers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4572000" y="4375404"/>
            <a:ext cx="2011680" cy="50292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663440" y="43754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24+</a:t>
            </a:r>
            <a:endParaRPr lang="en-US" sz="2200" dirty="0"/>
          </a:p>
        </p:txBody>
      </p:sp>
      <p:sp>
        <p:nvSpPr>
          <p:cNvPr id="124" name="Text 122"/>
          <p:cNvSpPr/>
          <p:nvPr/>
        </p:nvSpPr>
        <p:spPr>
          <a:xfrm>
            <a:off x="5349240" y="437540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functions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6743700" y="4375404"/>
            <a:ext cx="2011680" cy="502920"/>
          </a:xfrm>
          <a:prstGeom prst="rect">
            <a:avLst/>
          </a:prstGeom>
          <a:solidFill>
            <a:srgbClr val="0F1219"/>
          </a:solidFill>
          <a:ln w="12700">
            <a:solidFill>
              <a:srgbClr val="0F121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835140" y="437540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27" name="Text 125"/>
          <p:cNvSpPr/>
          <p:nvPr/>
        </p:nvSpPr>
        <p:spPr>
          <a:xfrm>
            <a:off x="7520940" y="437540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5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states / key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030"/>
          </a:solidFill>
          <a:ln w="12700">
            <a:solidFill>
              <a:srgbClr val="1A20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75488" cy="621792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9264" y="960120"/>
            <a:ext cx="7909560" cy="621792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" y="960120"/>
            <a:ext cx="45720" cy="621792"/>
          </a:xfrm>
          <a:prstGeom prst="rect">
            <a:avLst/>
          </a:prstGeom>
          <a:solidFill>
            <a:srgbClr val="3D96D4"/>
          </a:solidFill>
          <a:ln w="12700">
            <a:solidFill>
              <a:srgbClr val="3D9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960120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OXI One absorbs all sequencing complexity — freeing every Daisy Field key for performance state display rather than step entry.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46504"/>
            <a:ext cx="475488" cy="62179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4650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9264" y="1746504"/>
            <a:ext cx="7909560" cy="621792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1746504"/>
            <a:ext cx="45720" cy="621792"/>
          </a:xfrm>
          <a:prstGeom prst="rect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1746504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3-state LED encoding (OFF / BLINK / ON) plus trigger flash delivers 4 distinct voice states per key with zero additional hardware.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475488" cy="621792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3288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69264" y="2532888"/>
            <a:ext cx="7909560" cy="621792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" y="2532888"/>
            <a:ext cx="45720" cy="621792"/>
          </a:xfrm>
          <a:prstGeom prst="rect">
            <a:avLst/>
          </a:prstGeom>
          <a:solidFill>
            <a:srgbClr val="E05C8A"/>
          </a:solidFill>
          <a:ln w="12700">
            <a:solidFill>
              <a:srgbClr val="E05C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8992" y="2532888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Shift-hold (SW1) doubles knob parameter space without mode-lock — layer is physical, not logical, so muscle memory is preserved.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319272"/>
            <a:ext cx="475488" cy="621792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1927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69264" y="3319272"/>
            <a:ext cx="7909560" cy="621792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9264" y="3319272"/>
            <a:ext cx="45720" cy="621792"/>
          </a:xfrm>
          <a:prstGeom prst="rect">
            <a:avLst/>
          </a:prstGeom>
          <a:solidFill>
            <a:srgbClr val="4AB875"/>
          </a:solidFill>
          <a:ln w="12700">
            <a:solidFill>
              <a:srgbClr val="4AB8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319272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clock sync from OXI makes blink tempo-musical — muted voice indicators pulse in time, turning a UI cue into a performance aid.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475488" cy="621792"/>
          </a:xfrm>
          <a:prstGeom prst="rect">
            <a:avLst/>
          </a:prstGeom>
          <a:solidFill>
            <a:srgbClr val="F59B00"/>
          </a:solidFill>
          <a:ln w="12700">
            <a:solidFill>
              <a:srgbClr val="F59B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0565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2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69264" y="4105656"/>
            <a:ext cx="7909560" cy="621792"/>
          </a:xfrm>
          <a:prstGeom prst="rect">
            <a:avLst/>
          </a:prstGeom>
          <a:solidFill>
            <a:srgbClr val="1E2638"/>
          </a:solidFill>
          <a:ln w="12700">
            <a:solidFill>
              <a:srgbClr val="2C36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9264" y="4105656"/>
            <a:ext cx="45720" cy="621792"/>
          </a:xfrm>
          <a:prstGeom prst="rect">
            <a:avLst/>
          </a:prstGeom>
          <a:solidFill>
            <a:srgbClr val="F59B00"/>
          </a:solidFill>
          <a:ln w="12700">
            <a:solidFill>
              <a:srgbClr val="F59B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105656"/>
            <a:ext cx="77175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as persistent cheat sheet — 4-line format eliminates the need to memorize shift functions, reducing cognitive overhead mid-performance.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5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SYNTHEX Project  ·  DaisySP  ·  libDaisy  ·  OXI One MK1  ·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Daisy Field + OXI One: Optimal Drum Machine UX/UI</dc:title>
  <dc:subject>PptxGenJS Presentation</dc:subject>
  <dc:creator>PptxGenJS</dc:creator>
  <cp:lastModifiedBy>PptxGenJS</cp:lastModifiedBy>
  <cp:revision>1</cp:revision>
  <dcterms:created xsi:type="dcterms:W3CDTF">2026-03-23T21:31:45Z</dcterms:created>
  <dcterms:modified xsi:type="dcterms:W3CDTF">2026-03-23T21:31:45Z</dcterms:modified>
</cp:coreProperties>
</file>